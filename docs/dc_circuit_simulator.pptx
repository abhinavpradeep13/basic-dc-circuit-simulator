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5" r:id="rId7"/>
    <p:sldId id="266" r:id="rId8"/>
    <p:sldId id="267" r:id="rId9"/>
    <p:sldId id="268" r:id="rId10"/>
    <p:sldId id="269" r:id="rId11"/>
    <p:sldId id="270" r:id="rId12"/>
    <p:sldId id="271" r:id="rId13"/>
    <p:sldId id="272" r:id="rId14"/>
    <p:sldId id="273" r:id="rId15"/>
    <p:sldId id="262" r:id="rId16"/>
    <p:sldId id="263" r:id="rId17"/>
    <p:sldId id="26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9" autoAdjust="0"/>
    <p:restoredTop sz="94660"/>
  </p:normalViewPr>
  <p:slideViewPr>
    <p:cSldViewPr snapToGrid="0">
      <p:cViewPr varScale="1">
        <p:scale>
          <a:sx n="103" d="100"/>
          <a:sy n="103" d="100"/>
        </p:scale>
        <p:origin x="92"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F8F0F81A-8176-40DD-8273-36D28B4099ED}" type="datetimeFigureOut">
              <a:rPr lang="en-IN" smtClean="0"/>
              <a:t>01-04-2026</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356943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F0F81A-8176-40DD-8273-36D28B4099ED}"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2455084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F0F81A-8176-40DD-8273-36D28B4099ED}"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3043373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F0F81A-8176-40DD-8273-36D28B4099ED}"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930247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F0F81A-8176-40DD-8273-36D28B4099ED}" type="datetimeFigureOut">
              <a:rPr lang="en-IN" smtClean="0"/>
              <a:t>01-04-2026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1839166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F0F81A-8176-40DD-8273-36D28B4099ED}" type="datetimeFigureOut">
              <a:rPr lang="en-IN" smtClean="0"/>
              <a:t>01-04-2026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1415686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F0F81A-8176-40DD-8273-36D28B4099ED}" type="datetimeFigureOut">
              <a:rPr lang="en-IN" smtClean="0"/>
              <a:t>01-04-2026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1013369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F0F81A-8176-40DD-8273-36D28B4099ED}"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263994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F0F81A-8176-40DD-8273-36D28B4099ED}"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1690139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F0F81A-8176-40DD-8273-36D28B4099ED}"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2957055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F0F81A-8176-40DD-8273-36D28B4099ED}"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3651953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F0F81A-8176-40DD-8273-36D28B4099ED}"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285834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F0F81A-8176-40DD-8273-36D28B4099ED}"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6017970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8F0F81A-8176-40DD-8273-36D28B4099ED}" type="datetimeFigureOut">
              <a:rPr lang="en-IN" smtClean="0"/>
              <a:t>01-04-2026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4199348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8F0F81A-8176-40DD-8273-36D28B4099ED}" type="datetimeFigureOut">
              <a:rPr lang="en-IN" smtClean="0"/>
              <a:t>01-04-2026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21657078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F0F81A-8176-40DD-8273-36D28B4099ED}"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9208676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F0F81A-8176-40DD-8273-36D28B4099ED}"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4289432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8F0F81A-8176-40DD-8273-36D28B4099ED}" type="datetimeFigureOut">
              <a:rPr lang="en-IN" smtClean="0"/>
              <a:t>01-04-2026</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B95CCBC-BA8F-4131-8899-928B2010D2D4}" type="slidenum">
              <a:rPr lang="en-IN" smtClean="0"/>
              <a:t>‹#›</a:t>
            </a:fld>
            <a:endParaRPr lang="en-IN"/>
          </a:p>
        </p:txBody>
      </p:sp>
    </p:spTree>
    <p:extLst>
      <p:ext uri="{BB962C8B-B14F-4D97-AF65-F5344CB8AC3E}">
        <p14:creationId xmlns:p14="http://schemas.microsoft.com/office/powerpoint/2010/main" val="21575251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517604"/>
            <a:ext cx="9905998" cy="1478570"/>
          </a:xfrm>
        </p:spPr>
        <p:txBody>
          <a:bodyPr/>
          <a:lstStyle/>
          <a:p>
            <a:pPr algn="ctr">
              <a:defRPr sz="3600" b="1">
                <a:solidFill>
                  <a:srgbClr val="003366"/>
                </a:solidFill>
              </a:defRPr>
            </a:pPr>
            <a:r>
              <a:rPr u="sng" dirty="0"/>
              <a:t>Abstract</a:t>
            </a:r>
          </a:p>
        </p:txBody>
      </p:sp>
      <p:sp>
        <p:nvSpPr>
          <p:cNvPr id="3" name="Content Placeholder 2"/>
          <p:cNvSpPr>
            <a:spLocks noGrp="1"/>
          </p:cNvSpPr>
          <p:nvPr>
            <p:ph idx="1"/>
          </p:nvPr>
        </p:nvSpPr>
        <p:spPr>
          <a:xfrm>
            <a:off x="1141412" y="1804644"/>
            <a:ext cx="9905999" cy="3541714"/>
          </a:xfrm>
        </p:spPr>
        <p:txBody>
          <a:bodyPr>
            <a:normAutofit lnSpcReduction="10000"/>
          </a:bodyPr>
          <a:lstStyle/>
          <a:p>
            <a:endParaRPr dirty="0"/>
          </a:p>
          <a:p>
            <a:pPr>
              <a:lnSpc>
                <a:spcPct val="150000"/>
              </a:lnSpc>
              <a:defRPr sz="2200">
                <a:solidFill>
                  <a:srgbClr val="191919"/>
                </a:solidFill>
              </a:defRPr>
            </a:pPr>
            <a:r>
              <a:rPr dirty="0"/>
              <a:t>This project develops an object-oriented framework in Python to perform DC circuit analysis on networks comprising resistors and voltage sources, leveraging Modified Nodal Analysis (MNA) for efficient computation. The system models circuit elements using inheritance and polymorphism, features a user-friendly GUI built with </a:t>
            </a:r>
            <a:r>
              <a:rPr dirty="0" err="1"/>
              <a:t>Tkinter</a:t>
            </a:r>
            <a:r>
              <a:rPr dirty="0"/>
              <a:t>, and dynamically computes node voltages and branch currents, demonstrating the integration of OOP principles into electrical engineering computation.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Overview of the Project</a:t>
            </a:r>
          </a:p>
        </p:txBody>
      </p:sp>
      <p:sp>
        <p:nvSpPr>
          <p:cNvPr id="3" name="Content Placeholder 2"/>
          <p:cNvSpPr>
            <a:spLocks noGrp="1"/>
          </p:cNvSpPr>
          <p:nvPr>
            <p:ph idx="1"/>
          </p:nvPr>
        </p:nvSpPr>
        <p:spPr>
          <a:xfrm>
            <a:off x="1141413" y="1860250"/>
            <a:ext cx="9905999" cy="3541714"/>
          </a:xfrm>
        </p:spPr>
        <p:txBody>
          <a:bodyPr/>
          <a:lstStyle/>
          <a:p>
            <a:endParaRPr dirty="0"/>
          </a:p>
          <a:p>
            <a:pPr marL="0" indent="0">
              <a:lnSpc>
                <a:spcPct val="150000"/>
              </a:lnSpc>
              <a:buNone/>
              <a:defRPr sz="2200">
                <a:solidFill>
                  <a:srgbClr val="191919"/>
                </a:solidFill>
              </a:defRPr>
            </a:pPr>
            <a:r>
              <a:rPr dirty="0"/>
              <a:t>• A Python-based circuit solver built using Object-Oriented Programming (OOP)</a:t>
            </a:r>
            <a:br>
              <a:rPr dirty="0"/>
            </a:br>
            <a:r>
              <a:rPr dirty="0"/>
              <a:t>• Uses Modified Nodal Analysis (MNA) for solving DC electrical circuits</a:t>
            </a:r>
            <a:br>
              <a:rPr dirty="0"/>
            </a:br>
            <a:r>
              <a:rPr dirty="0"/>
              <a:t>• Components include Resistors and Voltage Sources</a:t>
            </a:r>
            <a:br>
              <a:rPr dirty="0"/>
            </a:br>
            <a:r>
              <a:rPr dirty="0"/>
              <a:t>• Provides a user-friendly GUI for circuit creation and analysis</a:t>
            </a:r>
            <a:br>
              <a:rPr dirty="0"/>
            </a:br>
            <a:r>
              <a:rPr dirty="0"/>
              <a:t>• Displays node voltages and component currents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Object-Oriented Design</a:t>
            </a:r>
          </a:p>
        </p:txBody>
      </p:sp>
      <p:sp>
        <p:nvSpPr>
          <p:cNvPr id="3" name="Content Placeholder 2"/>
          <p:cNvSpPr>
            <a:spLocks noGrp="1"/>
          </p:cNvSpPr>
          <p:nvPr>
            <p:ph idx="1"/>
          </p:nvPr>
        </p:nvSpPr>
        <p:spPr>
          <a:xfrm>
            <a:off x="1326763" y="1965282"/>
            <a:ext cx="9905999" cy="3541714"/>
          </a:xfrm>
        </p:spPr>
        <p:txBody>
          <a:bodyPr>
            <a:normAutofit lnSpcReduction="10000"/>
          </a:bodyPr>
          <a:lstStyle/>
          <a:p>
            <a:endParaRPr dirty="0"/>
          </a:p>
          <a:p>
            <a:pPr marL="0" indent="0">
              <a:lnSpc>
                <a:spcPct val="150000"/>
              </a:lnSpc>
              <a:buNone/>
              <a:defRPr sz="2200">
                <a:solidFill>
                  <a:srgbClr val="191919"/>
                </a:solidFill>
              </a:defRPr>
            </a:pPr>
            <a:r>
              <a:rPr dirty="0"/>
              <a:t>• Base Class: </a:t>
            </a:r>
            <a:r>
              <a:rPr dirty="0" err="1"/>
              <a:t>CircuitComponent</a:t>
            </a:r>
            <a:r>
              <a:rPr dirty="0"/>
              <a:t> defines a common interface for all components</a:t>
            </a:r>
            <a:br>
              <a:rPr dirty="0"/>
            </a:br>
            <a:r>
              <a:rPr dirty="0"/>
              <a:t>• Derived Classes:</a:t>
            </a:r>
            <a:br>
              <a:rPr dirty="0"/>
            </a:br>
            <a:r>
              <a:rPr dirty="0"/>
              <a:t>   - Resistor: Implements Ohm's law and conductance stamping</a:t>
            </a:r>
            <a:br>
              <a:rPr dirty="0"/>
            </a:br>
            <a:r>
              <a:rPr dirty="0"/>
              <a:t>   - </a:t>
            </a:r>
            <a:r>
              <a:rPr dirty="0" err="1"/>
              <a:t>VoltageSource</a:t>
            </a:r>
            <a:r>
              <a:rPr dirty="0"/>
              <a:t>: Adds equations for voltage sources and calculates current</a:t>
            </a:r>
            <a:br>
              <a:rPr dirty="0"/>
            </a:br>
            <a:r>
              <a:rPr dirty="0"/>
              <a:t>• Circuit Class: Manages all components, nodes, and solving process</a:t>
            </a:r>
            <a:br>
              <a:rPr dirty="0"/>
            </a:br>
            <a:r>
              <a:rPr dirty="0"/>
              <a:t>• </a:t>
            </a:r>
            <a:r>
              <a:rPr dirty="0" err="1"/>
              <a:t>CircuitGUI</a:t>
            </a:r>
            <a:r>
              <a:rPr dirty="0"/>
              <a:t> Class: Provides the graphical interface using </a:t>
            </a:r>
            <a:r>
              <a:rPr dirty="0" err="1"/>
              <a:t>Tkinter</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Working Principle  </a:t>
            </a:r>
            <a:br>
              <a:rPr lang="en-US" u="sng" dirty="0"/>
            </a:br>
            <a:r>
              <a:rPr u="sng" dirty="0"/>
              <a:t>Modified Nodal Analysis</a:t>
            </a:r>
          </a:p>
        </p:txBody>
      </p:sp>
      <p:sp>
        <p:nvSpPr>
          <p:cNvPr id="3" name="Content Placeholder 2"/>
          <p:cNvSpPr>
            <a:spLocks noGrp="1"/>
          </p:cNvSpPr>
          <p:nvPr>
            <p:ph idx="1"/>
          </p:nvPr>
        </p:nvSpPr>
        <p:spPr>
          <a:xfrm>
            <a:off x="1672753" y="1936450"/>
            <a:ext cx="9905999" cy="3941249"/>
          </a:xfrm>
        </p:spPr>
        <p:txBody>
          <a:bodyPr>
            <a:normAutofit fontScale="92500" lnSpcReduction="20000"/>
          </a:bodyPr>
          <a:lstStyle/>
          <a:p>
            <a:endParaRPr dirty="0"/>
          </a:p>
          <a:p>
            <a:pPr marL="0" indent="0">
              <a:lnSpc>
                <a:spcPct val="150000"/>
              </a:lnSpc>
              <a:buNone/>
              <a:defRPr sz="2200">
                <a:solidFill>
                  <a:srgbClr val="191919"/>
                </a:solidFill>
              </a:defRPr>
            </a:pPr>
            <a:r>
              <a:rPr dirty="0"/>
              <a:t>1. User adds circuit components (Resistors and Voltage Sources)</a:t>
            </a:r>
            <a:br>
              <a:rPr dirty="0"/>
            </a:br>
            <a:r>
              <a:rPr dirty="0"/>
              <a:t>2. The system builds nodal equations using Modified Nodal Analysis (MNA)</a:t>
            </a:r>
            <a:br>
              <a:rPr dirty="0"/>
            </a:br>
            <a:r>
              <a:rPr dirty="0"/>
              <a:t>3. Matrix formulation: [G][x] = [I]</a:t>
            </a:r>
            <a:br>
              <a:rPr dirty="0"/>
            </a:br>
            <a:r>
              <a:rPr dirty="0"/>
              <a:t>   - G: Conductance matrix</a:t>
            </a:r>
            <a:br>
              <a:rPr dirty="0"/>
            </a:br>
            <a:r>
              <a:rPr dirty="0"/>
              <a:t>   - x: Unknown voltages and source currents</a:t>
            </a:r>
            <a:br>
              <a:rPr dirty="0"/>
            </a:br>
            <a:r>
              <a:rPr dirty="0"/>
              <a:t>   - I: Current/voltage vector</a:t>
            </a:r>
            <a:br>
              <a:rPr dirty="0"/>
            </a:br>
            <a:r>
              <a:rPr dirty="0"/>
              <a:t>4. Solves using NumPy linear algebra solver</a:t>
            </a:r>
            <a:br>
              <a:rPr dirty="0"/>
            </a:br>
            <a:r>
              <a:rPr dirty="0"/>
              <a:t>5. Results are displayed as node voltages and component currents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Graphical User Interface (GUI)</a:t>
            </a:r>
          </a:p>
        </p:txBody>
      </p:sp>
      <p:sp>
        <p:nvSpPr>
          <p:cNvPr id="3" name="Content Placeholder 2"/>
          <p:cNvSpPr>
            <a:spLocks noGrp="1"/>
          </p:cNvSpPr>
          <p:nvPr>
            <p:ph idx="1"/>
          </p:nvPr>
        </p:nvSpPr>
        <p:spPr>
          <a:xfrm>
            <a:off x="1666574" y="1959104"/>
            <a:ext cx="9905999" cy="3541714"/>
          </a:xfrm>
        </p:spPr>
        <p:txBody>
          <a:bodyPr/>
          <a:lstStyle/>
          <a:p>
            <a:endParaRPr dirty="0"/>
          </a:p>
          <a:p>
            <a:pPr marL="0" indent="0">
              <a:lnSpc>
                <a:spcPct val="150000"/>
              </a:lnSpc>
              <a:buNone/>
              <a:defRPr sz="2200">
                <a:solidFill>
                  <a:srgbClr val="191919"/>
                </a:solidFill>
              </a:defRPr>
            </a:pPr>
            <a:r>
              <a:rPr dirty="0"/>
              <a:t>• Built using </a:t>
            </a:r>
            <a:r>
              <a:rPr dirty="0" err="1"/>
              <a:t>Tkinter</a:t>
            </a:r>
            <a:r>
              <a:rPr dirty="0"/>
              <a:t> and </a:t>
            </a:r>
            <a:r>
              <a:rPr dirty="0" err="1"/>
              <a:t>ttk</a:t>
            </a:r>
            <a:r>
              <a:rPr dirty="0"/>
              <a:t> modules</a:t>
            </a:r>
            <a:br>
              <a:rPr dirty="0"/>
            </a:br>
            <a:r>
              <a:rPr dirty="0"/>
              <a:t>• Tabs for adding Resistors and Voltage Sources</a:t>
            </a:r>
            <a:br>
              <a:rPr dirty="0"/>
            </a:br>
            <a:r>
              <a:rPr dirty="0"/>
              <a:t>• Real-time component list display</a:t>
            </a:r>
            <a:br>
              <a:rPr dirty="0"/>
            </a:br>
            <a:r>
              <a:rPr dirty="0"/>
              <a:t>• Buttons for Solve, Clear, and Save Results</a:t>
            </a:r>
            <a:br>
              <a:rPr dirty="0"/>
            </a:br>
            <a:r>
              <a:rPr dirty="0"/>
              <a:t>• Error handling for invalid or unsolvable circuits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25632-FE0B-28BD-E08E-EE58C2380921}"/>
              </a:ext>
            </a:extLst>
          </p:cNvPr>
          <p:cNvSpPr>
            <a:spLocks noGrp="1"/>
          </p:cNvSpPr>
          <p:nvPr>
            <p:ph type="title"/>
          </p:nvPr>
        </p:nvSpPr>
        <p:spPr>
          <a:xfrm>
            <a:off x="1143001" y="0"/>
            <a:ext cx="9905998" cy="1478570"/>
          </a:xfrm>
        </p:spPr>
        <p:txBody>
          <a:bodyPr/>
          <a:lstStyle/>
          <a:p>
            <a:pPr algn="ctr"/>
            <a:r>
              <a:rPr lang="en-US" b="1" u="sng" dirty="0">
                <a:solidFill>
                  <a:schemeClr val="bg2"/>
                </a:solidFill>
              </a:rPr>
              <a:t>CODE</a:t>
            </a:r>
            <a:endParaRPr lang="en-IN" b="1" u="sng" dirty="0">
              <a:solidFill>
                <a:schemeClr val="bg2"/>
              </a:solidFill>
            </a:endParaRPr>
          </a:p>
        </p:txBody>
      </p:sp>
      <p:pic>
        <p:nvPicPr>
          <p:cNvPr id="5" name="Content Placeholder 4">
            <a:extLst>
              <a:ext uri="{FF2B5EF4-FFF2-40B4-BE49-F238E27FC236}">
                <a16:creationId xmlns:a16="http://schemas.microsoft.com/office/drawing/2014/main" id="{C47DBB8D-1E24-9A46-E8D7-DA6B10B9B0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6551" y="1248032"/>
            <a:ext cx="7858898" cy="5183659"/>
          </a:xfrm>
        </p:spPr>
      </p:pic>
    </p:spTree>
    <p:extLst>
      <p:ext uri="{BB962C8B-B14F-4D97-AF65-F5344CB8AC3E}">
        <p14:creationId xmlns:p14="http://schemas.microsoft.com/office/powerpoint/2010/main" val="3191688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BA0D860-23C1-C284-D7C0-B3517C7833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704336"/>
            <a:ext cx="8550876" cy="5309286"/>
          </a:xfrm>
        </p:spPr>
      </p:pic>
    </p:spTree>
    <p:extLst>
      <p:ext uri="{BB962C8B-B14F-4D97-AF65-F5344CB8AC3E}">
        <p14:creationId xmlns:p14="http://schemas.microsoft.com/office/powerpoint/2010/main" val="453694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E3E5818-94A1-8813-5258-F6CD21CA2B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8046" y="766118"/>
            <a:ext cx="8655907" cy="5301049"/>
          </a:xfrm>
        </p:spPr>
      </p:pic>
    </p:spTree>
    <p:extLst>
      <p:ext uri="{BB962C8B-B14F-4D97-AF65-F5344CB8AC3E}">
        <p14:creationId xmlns:p14="http://schemas.microsoft.com/office/powerpoint/2010/main" val="3921277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E185DB1-8E9C-B558-FB0E-30F98CB903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1803" y="740375"/>
            <a:ext cx="9088394" cy="5377249"/>
          </a:xfrm>
        </p:spPr>
      </p:pic>
    </p:spTree>
    <p:extLst>
      <p:ext uri="{BB962C8B-B14F-4D97-AF65-F5344CB8AC3E}">
        <p14:creationId xmlns:p14="http://schemas.microsoft.com/office/powerpoint/2010/main" val="517030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09E7FF7-9D19-062C-4060-1A11E54033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1091" y="586946"/>
            <a:ext cx="8995719" cy="5425646"/>
          </a:xfrm>
        </p:spPr>
      </p:pic>
    </p:spTree>
    <p:extLst>
      <p:ext uri="{BB962C8B-B14F-4D97-AF65-F5344CB8AC3E}">
        <p14:creationId xmlns:p14="http://schemas.microsoft.com/office/powerpoint/2010/main" val="3326315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6BB95F8-1008-20D5-43D2-03F4158E14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94022" y="679622"/>
            <a:ext cx="8891716" cy="5319583"/>
          </a:xfrm>
        </p:spPr>
      </p:pic>
    </p:spTree>
    <p:extLst>
      <p:ext uri="{BB962C8B-B14F-4D97-AF65-F5344CB8AC3E}">
        <p14:creationId xmlns:p14="http://schemas.microsoft.com/office/powerpoint/2010/main" val="1776665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2403F77-66C2-59F4-CC16-D864F920E5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8300" y="806278"/>
            <a:ext cx="8915400" cy="5245444"/>
          </a:xfrm>
        </p:spPr>
      </p:pic>
    </p:spTree>
    <p:extLst>
      <p:ext uri="{BB962C8B-B14F-4D97-AF65-F5344CB8AC3E}">
        <p14:creationId xmlns:p14="http://schemas.microsoft.com/office/powerpoint/2010/main" val="2213106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58EFC-B07C-2830-280E-A706130525FB}"/>
              </a:ext>
            </a:extLst>
          </p:cNvPr>
          <p:cNvSpPr>
            <a:spLocks noGrp="1"/>
          </p:cNvSpPr>
          <p:nvPr>
            <p:ph type="title"/>
          </p:nvPr>
        </p:nvSpPr>
        <p:spPr>
          <a:xfrm>
            <a:off x="1141412" y="457200"/>
            <a:ext cx="9905998" cy="1114726"/>
          </a:xfrm>
        </p:spPr>
        <p:txBody>
          <a:bodyPr/>
          <a:lstStyle/>
          <a:p>
            <a:pPr algn="ctr"/>
            <a:r>
              <a:rPr lang="en-US" b="1" u="sng" dirty="0">
                <a:solidFill>
                  <a:schemeClr val="bg2"/>
                </a:solidFill>
              </a:rPr>
              <a:t>OUTPUT</a:t>
            </a:r>
            <a:endParaRPr lang="en-IN" b="1" u="sng" dirty="0">
              <a:solidFill>
                <a:schemeClr val="bg2"/>
              </a:solidFill>
            </a:endParaRPr>
          </a:p>
        </p:txBody>
      </p:sp>
      <p:pic>
        <p:nvPicPr>
          <p:cNvPr id="5" name="Content Placeholder 4">
            <a:extLst>
              <a:ext uri="{FF2B5EF4-FFF2-40B4-BE49-F238E27FC236}">
                <a16:creationId xmlns:a16="http://schemas.microsoft.com/office/drawing/2014/main" id="{583E09C9-1164-5738-524E-0F6D20027B1D}"/>
              </a:ext>
            </a:extLst>
          </p:cNvPr>
          <p:cNvPicPr>
            <a:picLocks noGrp="1" noChangeAspect="1"/>
          </p:cNvPicPr>
          <p:nvPr>
            <p:ph idx="1"/>
          </p:nvPr>
        </p:nvPicPr>
        <p:blipFill>
          <a:blip r:embed="rId2"/>
          <a:srcRect l="611" t="-152" r="734" b="965"/>
          <a:stretch>
            <a:fillRect/>
          </a:stretch>
        </p:blipFill>
        <p:spPr>
          <a:xfrm>
            <a:off x="3410466" y="1571926"/>
            <a:ext cx="5399902" cy="4303712"/>
          </a:xfrm>
          <a:prstGeom prst="rect">
            <a:avLst/>
          </a:prstGeom>
        </p:spPr>
      </p:pic>
    </p:spTree>
    <p:extLst>
      <p:ext uri="{BB962C8B-B14F-4D97-AF65-F5344CB8AC3E}">
        <p14:creationId xmlns:p14="http://schemas.microsoft.com/office/powerpoint/2010/main" val="1248473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AA67BDC7-DE7C-D13B-E1F1-813603898B2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900" r="931"/>
          <a:stretch>
            <a:fillRect/>
          </a:stretch>
        </p:blipFill>
        <p:spPr>
          <a:xfrm>
            <a:off x="3045941" y="841289"/>
            <a:ext cx="6098060" cy="5175421"/>
          </a:xfrm>
        </p:spPr>
      </p:pic>
    </p:spTree>
    <p:extLst>
      <p:ext uri="{BB962C8B-B14F-4D97-AF65-F5344CB8AC3E}">
        <p14:creationId xmlns:p14="http://schemas.microsoft.com/office/powerpoint/2010/main" val="6663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Applications</a:t>
            </a:r>
          </a:p>
        </p:txBody>
      </p:sp>
      <p:sp>
        <p:nvSpPr>
          <p:cNvPr id="3" name="Content Placeholder 2"/>
          <p:cNvSpPr>
            <a:spLocks noGrp="1"/>
          </p:cNvSpPr>
          <p:nvPr>
            <p:ph idx="1"/>
          </p:nvPr>
        </p:nvSpPr>
        <p:spPr>
          <a:xfrm>
            <a:off x="1610968" y="1884963"/>
            <a:ext cx="9905999" cy="3541714"/>
          </a:xfrm>
        </p:spPr>
        <p:txBody>
          <a:bodyPr/>
          <a:lstStyle/>
          <a:p>
            <a:endParaRPr dirty="0"/>
          </a:p>
          <a:p>
            <a:pPr marL="0" indent="0">
              <a:lnSpc>
                <a:spcPct val="150000"/>
              </a:lnSpc>
              <a:buNone/>
              <a:defRPr sz="2200">
                <a:solidFill>
                  <a:srgbClr val="191919"/>
                </a:solidFill>
              </a:defRPr>
            </a:pPr>
            <a:r>
              <a:rPr dirty="0"/>
              <a:t>• Educational tool for learning circuit analysis</a:t>
            </a:r>
            <a:br>
              <a:rPr dirty="0"/>
            </a:br>
            <a:r>
              <a:rPr dirty="0"/>
              <a:t>• Demonstrates OOP design in engineering computation</a:t>
            </a:r>
            <a:br>
              <a:rPr dirty="0"/>
            </a:br>
            <a:r>
              <a:rPr dirty="0"/>
              <a:t>• Can be extended to include dependent sources, capacitors, inductors</a:t>
            </a:r>
            <a:br>
              <a:rPr dirty="0"/>
            </a:br>
            <a:r>
              <a:rPr dirty="0"/>
              <a:t>• Useful for validating small DC circuit designs</a:t>
            </a:r>
            <a:br>
              <a:rPr dirty="0"/>
            </a:br>
            <a:r>
              <a:rPr dirty="0"/>
              <a:t>• Foundation for more advanced simulators (SPICE-like tools)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Advantages of Object-Oriented Approach</a:t>
            </a:r>
          </a:p>
        </p:txBody>
      </p:sp>
      <p:sp>
        <p:nvSpPr>
          <p:cNvPr id="3" name="Content Placeholder 2"/>
          <p:cNvSpPr>
            <a:spLocks noGrp="1"/>
          </p:cNvSpPr>
          <p:nvPr>
            <p:ph idx="1"/>
          </p:nvPr>
        </p:nvSpPr>
        <p:spPr>
          <a:xfrm>
            <a:off x="1345298" y="2097088"/>
            <a:ext cx="9905999" cy="3541714"/>
          </a:xfrm>
        </p:spPr>
        <p:txBody>
          <a:bodyPr/>
          <a:lstStyle/>
          <a:p>
            <a:endParaRPr dirty="0"/>
          </a:p>
          <a:p>
            <a:pPr marL="0" indent="0">
              <a:lnSpc>
                <a:spcPct val="150000"/>
              </a:lnSpc>
              <a:buNone/>
              <a:defRPr sz="2200">
                <a:solidFill>
                  <a:srgbClr val="191919"/>
                </a:solidFill>
              </a:defRPr>
            </a:pPr>
            <a:r>
              <a:rPr dirty="0"/>
              <a:t>• Code reusability through inheritance</a:t>
            </a:r>
            <a:br>
              <a:rPr dirty="0"/>
            </a:br>
            <a:r>
              <a:rPr dirty="0"/>
              <a:t>• Easy scalability — new components can be added with minimal changes</a:t>
            </a:r>
            <a:br>
              <a:rPr dirty="0"/>
            </a:br>
            <a:r>
              <a:rPr dirty="0"/>
              <a:t>• Clear separation of concerns between components, solver, and GUI</a:t>
            </a:r>
            <a:br>
              <a:rPr dirty="0"/>
            </a:br>
            <a:r>
              <a:rPr dirty="0"/>
              <a:t>• Easier debugging and testing due to modular structure</a:t>
            </a:r>
            <a:br>
              <a:rPr dirty="0"/>
            </a:br>
            <a:r>
              <a:rPr dirty="0"/>
              <a:t>• Enhances readability and maintainability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Conclusion</a:t>
            </a:r>
          </a:p>
        </p:txBody>
      </p:sp>
      <p:sp>
        <p:nvSpPr>
          <p:cNvPr id="3" name="Content Placeholder 2"/>
          <p:cNvSpPr>
            <a:spLocks noGrp="1"/>
          </p:cNvSpPr>
          <p:nvPr>
            <p:ph idx="1"/>
          </p:nvPr>
        </p:nvSpPr>
        <p:spPr>
          <a:xfrm>
            <a:off x="1413261" y="2033243"/>
            <a:ext cx="9905999" cy="3541714"/>
          </a:xfrm>
        </p:spPr>
        <p:txBody>
          <a:bodyPr/>
          <a:lstStyle/>
          <a:p>
            <a:endParaRPr dirty="0"/>
          </a:p>
          <a:p>
            <a:pPr>
              <a:lnSpc>
                <a:spcPct val="150000"/>
              </a:lnSpc>
              <a:defRPr sz="2200">
                <a:solidFill>
                  <a:srgbClr val="191919"/>
                </a:solidFill>
              </a:defRPr>
            </a:pPr>
            <a:r>
              <a:rPr dirty="0"/>
              <a:t>This project demonstrates how Object-Oriented Programming can be applied to solve real-world engineering problems using computational techniques. The integration of MNA with a </a:t>
            </a:r>
            <a:r>
              <a:rPr dirty="0" err="1"/>
              <a:t>Tkinter</a:t>
            </a:r>
            <a:r>
              <a:rPr dirty="0"/>
              <a:t>-based GUI makes circuit analysis intuitive, educational, and adaptable for further research and application.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135</TotalTime>
  <Words>483</Words>
  <Application>Microsoft Office PowerPoint</Application>
  <PresentationFormat>Widescreen</PresentationFormat>
  <Paragraphs>26</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Tw Cen MT</vt:lpstr>
      <vt:lpstr>Circuit</vt:lpstr>
      <vt:lpstr>Abstract</vt:lpstr>
      <vt:lpstr>Overview of the Project</vt:lpstr>
      <vt:lpstr>Object-Oriented Design</vt:lpstr>
      <vt:lpstr>Working Principle   Modified Nodal Analysis</vt:lpstr>
      <vt:lpstr>Graphical User Interface (GUI)</vt:lpstr>
      <vt:lpstr>CODE</vt:lpstr>
      <vt:lpstr>PowerPoint Presentation</vt:lpstr>
      <vt:lpstr>PowerPoint Presentation</vt:lpstr>
      <vt:lpstr>PowerPoint Presentation</vt:lpstr>
      <vt:lpstr>PowerPoint Presentation</vt:lpstr>
      <vt:lpstr>PowerPoint Presentation</vt:lpstr>
      <vt:lpstr>PowerPoint Presentation</vt:lpstr>
      <vt:lpstr>OUTPUT</vt:lpstr>
      <vt:lpstr>PowerPoint Presentation</vt:lpstr>
      <vt:lpstr>Applications</vt:lpstr>
      <vt:lpstr>Advantages of Object-Oriented Approach</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Abhinav Pradeep</dc:creator>
  <cp:lastModifiedBy>Abhinav Pradeep</cp:lastModifiedBy>
  <cp:revision>8</cp:revision>
  <dcterms:created xsi:type="dcterms:W3CDTF">2025-09-09T15:55:34Z</dcterms:created>
  <dcterms:modified xsi:type="dcterms:W3CDTF">2026-03-31T18:51:13Z</dcterms:modified>
</cp:coreProperties>
</file>